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4" r:id="rId11"/>
  </p:sldIdLst>
  <p:sldSz cx="14630400" cy="8229600"/>
  <p:notesSz cx="8229600" cy="14630400"/>
  <p:embeddedFontLst>
    <p:embeddedFont>
      <p:font typeface="Raleway" pitchFamily="34" charset="0"/>
      <p:bold r:id="rId15"/>
    </p:embeddedFont>
    <p:embeddedFont>
      <p:font typeface="Raleway" pitchFamily="34" charset="-122"/>
      <p:bold r:id="rId16"/>
    </p:embeddedFont>
    <p:embeddedFont>
      <p:font typeface="Raleway" pitchFamily="34" charset="-120"/>
      <p:bold r:id="rId17"/>
    </p:embeddedFont>
    <p:embeddedFont>
      <p:font typeface="Roboto" panose="02000000000000000000" pitchFamily="34" charset="0"/>
      <p:regular r:id="rId18"/>
    </p:embeddedFont>
    <p:embeddedFont>
      <p:font typeface="Roboto" panose="02000000000000000000" pitchFamily="34" charset="-122"/>
      <p:regular r:id="rId19"/>
    </p:embeddedFont>
    <p:embeddedFont>
      <p:font typeface="Roboto" panose="02000000000000000000" pitchFamily="34" charset="-120"/>
      <p:regular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75000"/>
            </a:srgbClr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914644"/>
            <a:ext cx="7556421" cy="195643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Energy Harvesting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211241"/>
            <a:ext cx="7556421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Smart energy harvesting is an innovative approach that utilizes piezoelectric sensors to convert ambient mechanical energy into usable electrical power. This technology holds vast potential for a wide range of applications, from wearable electronics to remote sensor networks.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934908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0A18FC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8538" y="6067544"/>
            <a:ext cx="126087" cy="9751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oboto Medium" pitchFamily="34" charset="0"/>
                <a:ea typeface="Roboto Medium" pitchFamily="34" charset="-122"/>
                <a:cs typeface="Roboto Medium" pitchFamily="34" charset="-120"/>
              </a:rPr>
              <a:t>DP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918002"/>
            <a:ext cx="1994297" cy="3968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 Datt Panchal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58509"/>
            <a:ext cx="9585365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Introduction to </a:t>
            </a:r>
            <a:r>
              <a:rPr lang="en-IN" alt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Energy Harvesting</a:t>
            </a:r>
            <a:endParaRPr lang="en-IN" altLang="en-US" sz="445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Piezoelectricity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15408"/>
            <a:ext cx="3978116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piezoelectric effect is the ability of certain materials to generate an electric charge in response to applied mechanical stress.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15408"/>
            <a:ext cx="3978116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Piezoelectric sensors can be used to measure various physical quantities, such as pressure, acceleration, and vibration.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3426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 Harvesting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15408"/>
            <a:ext cx="3978116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By leveraging the piezoelectric effect, these sensors can be used to capture ambient mechanical energy and convert it into electricity.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5421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6074" y="2854523"/>
            <a:ext cx="145613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2769513"/>
            <a:ext cx="2927747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Explore Piezoelectric Sensors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3614261"/>
            <a:ext cx="2927747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Investigate the principles and applications of piezoelectric sensors in energy harvesting systems.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276951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51916" y="2854523"/>
            <a:ext cx="177284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2769513"/>
            <a:ext cx="2927747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and Implement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3614261"/>
            <a:ext cx="2927747" cy="145161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Develop a prototype that demonstrates the effective conversion of mechanical energy into electrical power.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5478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8096" y="5632847"/>
            <a:ext cx="18168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547836"/>
            <a:ext cx="3553182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Efficiency and Optimization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038255"/>
            <a:ext cx="681930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Analyze the performance and efficiency of the system, and explore potential improvements.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My Documents\Btech_Project_Sem5\Block Diagram.pngBlock Diagram"/>
          <p:cNvPicPr>
            <a:picLocks noChangeAspect="1"/>
          </p:cNvPicPr>
          <p:nvPr/>
        </p:nvPicPr>
        <p:blipFill>
          <a:blip r:embed="rId1"/>
          <a:srcRect l="466" r="503"/>
          <a:stretch>
            <a:fillRect/>
          </a:stretch>
        </p:blipFill>
        <p:spPr>
          <a:xfrm>
            <a:off x="6784975" y="1893570"/>
            <a:ext cx="7846060" cy="51923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58679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Block Diagram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118711" y="1907619"/>
            <a:ext cx="30480" cy="5463183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5" name="Shape 2"/>
          <p:cNvSpPr/>
          <p:nvPr/>
        </p:nvSpPr>
        <p:spPr>
          <a:xfrm>
            <a:off x="1358622" y="2402681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6" name="Shape 3"/>
          <p:cNvSpPr/>
          <p:nvPr/>
        </p:nvSpPr>
        <p:spPr>
          <a:xfrm>
            <a:off x="878800" y="216277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1085" y="2247781"/>
            <a:ext cx="145613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8" name="Text 5"/>
          <p:cNvSpPr/>
          <p:nvPr/>
        </p:nvSpPr>
        <p:spPr>
          <a:xfrm>
            <a:off x="2381488" y="213443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Mechanical Input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81250" y="2625090"/>
            <a:ext cx="408305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Ambient mechanical energy, such as vibrations or pressure, is captured by the piezoelectric sensor.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358622" y="4299347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11" name="Shape 8"/>
          <p:cNvSpPr/>
          <p:nvPr/>
        </p:nvSpPr>
        <p:spPr>
          <a:xfrm>
            <a:off x="878800" y="4059436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45250" y="4144447"/>
            <a:ext cx="177284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2381488" y="403109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Electrical Generation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381250" y="4521200"/>
            <a:ext cx="408305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piezoelectric sensor converts the mechanical energy into electrical energy.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358622" y="6196013"/>
            <a:ext cx="793790" cy="30480"/>
          </a:xfrm>
          <a:prstGeom prst="roundRect">
            <a:avLst>
              <a:gd name="adj" fmla="val 312558"/>
            </a:avLst>
          </a:prstGeom>
          <a:solidFill>
            <a:srgbClr val="C7C7D0"/>
          </a:solidFill>
        </p:spPr>
      </p:sp>
      <p:sp>
        <p:nvSpPr>
          <p:cNvPr id="16" name="Shape 13"/>
          <p:cNvSpPr/>
          <p:nvPr/>
        </p:nvSpPr>
        <p:spPr>
          <a:xfrm>
            <a:off x="878800" y="595610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3107" y="6041112"/>
            <a:ext cx="181689" cy="34028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2381488" y="5927765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Power Conditioning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2381250" y="6417945"/>
            <a:ext cx="408305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generated electrical energy is conditioned and stored for later use or direct application.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33155"/>
            <a:ext cx="567059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List of Components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82096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28224" y="271653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Piezoelectric Sensor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206948"/>
            <a:ext cx="319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Converts mechanical energy into electrical energy.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82096"/>
            <a:ext cx="3664863" cy="2039422"/>
          </a:xfrm>
          <a:prstGeom prst="roundRect">
            <a:avLst>
              <a:gd name="adj" fmla="val 4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19901" y="2716530"/>
            <a:ext cx="3195995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IN" alt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Voltage Multiplier Circuit Components</a:t>
            </a:r>
            <a:endParaRPr lang="en-IN" altLang="en-US" sz="22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919901" y="3561278"/>
            <a:ext cx="319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IN" alt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Including Diodes, and Capacitors only.</a:t>
            </a:r>
            <a:endParaRPr lang="en-IN" altLang="en-US" sz="175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4748332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8224" y="4982766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IN" alt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Rectifier Circuit</a:t>
            </a:r>
            <a:endParaRPr lang="en-IN" altLang="en-US" sz="2200" dirty="0">
              <a:solidFill>
                <a:srgbClr val="3C3939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028224" y="5473184"/>
            <a:ext cx="3195995" cy="10887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IN" alt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Including Diode.</a:t>
            </a:r>
            <a:endParaRPr lang="en-IN" altLang="en-US" sz="1750" dirty="0">
              <a:solidFill>
                <a:srgbClr val="3C3939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4685467" y="4748332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9901" y="4982766"/>
            <a:ext cx="3081457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Components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919901" y="5473184"/>
            <a:ext cx="3195995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IN" alt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</a:t>
            </a: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esistors,</a:t>
            </a:r>
            <a:r>
              <a:rPr lang="en-IN" alt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Multimeter,</a:t>
            </a:r>
            <a:r>
              <a:rPr lang="en-US" sz="175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and interconnecting wires.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My Documents\Btech_Project_Sem5\Circuit Diagram.pngCircuit Diagram"/>
          <p:cNvPicPr>
            <a:picLocks noChangeAspect="1"/>
          </p:cNvPicPr>
          <p:nvPr/>
        </p:nvPicPr>
        <p:blipFill>
          <a:blip r:embed="rId1"/>
          <a:srcRect l="547" r="263"/>
          <a:stretch>
            <a:fillRect/>
          </a:stretch>
        </p:blipFill>
        <p:spPr>
          <a:xfrm>
            <a:off x="1278890" y="2537460"/>
            <a:ext cx="12073255" cy="456755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68900" y="868680"/>
            <a:ext cx="429323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Circuit Diagram</a:t>
            </a:r>
            <a:endParaRPr lang="en-US" sz="4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251" y="530900"/>
            <a:ext cx="6561534" cy="601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4700"/>
              </a:lnSpc>
              <a:buNone/>
            </a:pPr>
            <a:r>
              <a:rPr lang="en-US" sz="3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 and Future Scope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1" y="1421844"/>
            <a:ext cx="481608" cy="4816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4251" y="2096095"/>
            <a:ext cx="2465070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Promising Technology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674251" y="2512576"/>
            <a:ext cx="7795498" cy="616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Piezoelectric energy harvesting has shown great potential in providing sustainable power solutions.</a:t>
            </a:r>
            <a:endParaRPr lang="en-US" sz="1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51" y="3706773"/>
            <a:ext cx="481608" cy="481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4251" y="4381024"/>
            <a:ext cx="240827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Efficiency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674251" y="4797504"/>
            <a:ext cx="7795498" cy="616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Ongoing research and development can further enhance the efficiency and performance of the system.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51" y="5991701"/>
            <a:ext cx="481608" cy="4816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4251" y="6665952"/>
            <a:ext cx="2408277" cy="3009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Diverse Applications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74251" y="7082433"/>
            <a:ext cx="7795498" cy="6162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This technology can be applied to a wide range of fields, from wearables to remote sensor networks.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76595" y="3760470"/>
            <a:ext cx="307657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IN" alt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Thank you.</a:t>
            </a:r>
            <a:endParaRPr lang="en-IN" altLang="en-US" sz="4450" dirty="0">
              <a:solidFill>
                <a:srgbClr val="1B1B27"/>
              </a:solidFill>
              <a:latin typeface="Raleway" pitchFamily="34" charset="0"/>
              <a:ea typeface="Raleway" pitchFamily="34" charset="-122"/>
              <a:cs typeface="Raleway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WPS Presentation</Application>
  <PresentationFormat>On-screen Show (16:9)</PresentationFormat>
  <Paragraphs>98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SimSun</vt:lpstr>
      <vt:lpstr>Wingdings</vt:lpstr>
      <vt:lpstr>Raleway</vt:lpstr>
      <vt:lpstr>Raleway</vt:lpstr>
      <vt:lpstr>Raleway</vt:lpstr>
      <vt:lpstr>Roboto</vt:lpstr>
      <vt:lpstr>Roboto</vt:lpstr>
      <vt:lpstr>Roboto</vt:lpstr>
      <vt:lpstr>Roboto Medium</vt:lpstr>
      <vt:lpstr>Segoe Print</vt:lpstr>
      <vt:lpstr>Roboto Medium</vt:lpstr>
      <vt:lpstr>Roboto Medium</vt:lpstr>
      <vt:lpstr>Roboto Bold</vt:lpstr>
      <vt:lpstr>Roboto Bold</vt:lpstr>
      <vt:lpstr>Roboto Bold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WPS_1728666330</cp:lastModifiedBy>
  <cp:revision>8</cp:revision>
  <dcterms:created xsi:type="dcterms:W3CDTF">2024-10-13T07:35:00Z</dcterms:created>
  <dcterms:modified xsi:type="dcterms:W3CDTF">2024-10-13T14:32:54Z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F243F60096DB46AA95BA50831E579624_12</vt:lpwstr>
  </property>
  <property fmtid="{D5CDD505-2E9C-101B-9397-08002B2CF9AE}" pid="3" name="KSOProductBuildVer">
    <vt:lpwstr>1033-12.2.0.18586</vt:lpwstr>
  </property>
</Properties>
</file>